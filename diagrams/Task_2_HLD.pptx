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penSans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417dcbd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417dcbd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417dcbd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417dcbd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8417dcb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8417dcb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8417dcbd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8417dcbd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8417dcbd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8417dcbd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8417dcbd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8417dcbd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8417dcbd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8417dcbd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8417dcbd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8417dcbd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417dcbd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8417dcbd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8417dcbd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8417dcbd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8417dcbd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8417dcbd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8417dcbd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8417dcbd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8417dcbd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8417dcbd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417dcbd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8417dcbd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8417dcbd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8417dcbd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Retail Orders Analytics MVP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Solution for MVP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Source Analysis 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delivered through SFTP as a monthly CSV extracts.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CSV = full snapshot of one month of orders.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Files can be </a:t>
            </a:r>
            <a:r>
              <a:rPr lang="en">
                <a:solidFill>
                  <a:schemeClr val="dk1"/>
                </a:solidFill>
              </a:rPr>
              <a:t>resent</a:t>
            </a:r>
            <a:r>
              <a:rPr lang="en">
                <a:solidFill>
                  <a:schemeClr val="dk1"/>
                </a:solidFill>
              </a:rPr>
              <a:t> multiple times in the following month to include corrections.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File naming pattern includes month + load timestamp.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Encoding: ANSI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Only </a:t>
            </a:r>
            <a:r>
              <a:rPr lang="en">
                <a:solidFill>
                  <a:schemeClr val="dk1"/>
                </a:solidFill>
              </a:rPr>
              <a:t>successfully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delivered</a:t>
            </a:r>
            <a:r>
              <a:rPr lang="en">
                <a:solidFill>
                  <a:schemeClr val="dk1"/>
                </a:solidFill>
              </a:rPr>
              <a:t> orders are included, with no returns.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Implications: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Monthly version handling is required.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Upsert logic and deduplication are necessary.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Every month, the most recent file must be tracked using the timestamp.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Ingestion</a:t>
            </a:r>
            <a:r>
              <a:rPr b="1" lang="en"/>
              <a:t> Design 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new monthly order files, the pipeline is scheduled to poll SFTP.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ingestion log and filename timestamp are used to detect files.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Every incoming file is kept unaltered in the Raw Layer.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auditability, keep a complete history of file versions.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Obtain metadata: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source_filename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load_timestamp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</a:t>
            </a:r>
            <a:r>
              <a:rPr lang="en">
                <a:solidFill>
                  <a:schemeClr val="dk1"/>
                </a:solidFill>
              </a:rPr>
              <a:t>ile_month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Ensure idempotent ingestion: rerunning does not create duplicates.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effective reprocessing, divide raw storage by month or year.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</a:t>
            </a:r>
            <a:r>
              <a:rPr lang="en"/>
              <a:t>Architecture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90563" y="1120300"/>
            <a:ext cx="10803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SFTP Source</a:t>
            </a:r>
            <a:endParaRPr sz="1100"/>
          </a:p>
        </p:txBody>
      </p:sp>
      <p:sp>
        <p:nvSpPr>
          <p:cNvPr id="74" name="Google Shape;74;p16"/>
          <p:cNvSpPr/>
          <p:nvPr/>
        </p:nvSpPr>
        <p:spPr>
          <a:xfrm>
            <a:off x="1382038" y="1118650"/>
            <a:ext cx="1079100" cy="57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Ingestion &amp; </a:t>
            </a:r>
            <a:r>
              <a:rPr lang="en" sz="1100"/>
              <a:t>Orchestration</a:t>
            </a:r>
            <a:endParaRPr sz="1100"/>
          </a:p>
        </p:txBody>
      </p:sp>
      <p:sp>
        <p:nvSpPr>
          <p:cNvPr id="75" name="Google Shape;75;p16"/>
          <p:cNvSpPr/>
          <p:nvPr/>
        </p:nvSpPr>
        <p:spPr>
          <a:xfrm>
            <a:off x="2672313" y="1120300"/>
            <a:ext cx="10791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Raw Layer</a:t>
            </a:r>
            <a:endParaRPr sz="1100"/>
          </a:p>
        </p:txBody>
      </p:sp>
      <p:sp>
        <p:nvSpPr>
          <p:cNvPr id="76" name="Google Shape;76;p16"/>
          <p:cNvSpPr/>
          <p:nvPr/>
        </p:nvSpPr>
        <p:spPr>
          <a:xfrm>
            <a:off x="3962588" y="1120300"/>
            <a:ext cx="10791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Staging Layer</a:t>
            </a:r>
            <a:endParaRPr sz="1100"/>
          </a:p>
        </p:txBody>
      </p:sp>
      <p:sp>
        <p:nvSpPr>
          <p:cNvPr id="77" name="Google Shape;77;p16"/>
          <p:cNvSpPr/>
          <p:nvPr/>
        </p:nvSpPr>
        <p:spPr>
          <a:xfrm>
            <a:off x="5393788" y="1121125"/>
            <a:ext cx="10791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DWH Core Layer</a:t>
            </a:r>
            <a:endParaRPr sz="1100"/>
          </a:p>
        </p:txBody>
      </p:sp>
      <p:sp>
        <p:nvSpPr>
          <p:cNvPr id="78" name="Google Shape;78;p16"/>
          <p:cNvSpPr/>
          <p:nvPr/>
        </p:nvSpPr>
        <p:spPr>
          <a:xfrm>
            <a:off x="6684063" y="1121125"/>
            <a:ext cx="10791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Data Marts</a:t>
            </a:r>
            <a:endParaRPr sz="1100"/>
          </a:p>
        </p:txBody>
      </p:sp>
      <p:sp>
        <p:nvSpPr>
          <p:cNvPr id="79" name="Google Shape;79;p16"/>
          <p:cNvSpPr/>
          <p:nvPr/>
        </p:nvSpPr>
        <p:spPr>
          <a:xfrm>
            <a:off x="7974338" y="1119475"/>
            <a:ext cx="10791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BI / </a:t>
            </a:r>
            <a:r>
              <a:rPr lang="en" sz="1100"/>
              <a:t>Dashboard</a:t>
            </a:r>
            <a:r>
              <a:rPr lang="en" sz="1100"/>
              <a:t> Consumption</a:t>
            </a:r>
            <a:endParaRPr sz="1100"/>
          </a:p>
        </p:txBody>
      </p:sp>
      <p:cxnSp>
        <p:nvCxnSpPr>
          <p:cNvPr id="80" name="Google Shape;80;p16"/>
          <p:cNvCxnSpPr>
            <a:stCxn id="73" idx="3"/>
            <a:endCxn id="74" idx="1"/>
          </p:cNvCxnSpPr>
          <p:nvPr/>
        </p:nvCxnSpPr>
        <p:spPr>
          <a:xfrm>
            <a:off x="1170863" y="1406650"/>
            <a:ext cx="21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6"/>
          <p:cNvCxnSpPr>
            <a:stCxn id="74" idx="3"/>
            <a:endCxn id="75" idx="1"/>
          </p:cNvCxnSpPr>
          <p:nvPr/>
        </p:nvCxnSpPr>
        <p:spPr>
          <a:xfrm>
            <a:off x="2461138" y="1406650"/>
            <a:ext cx="21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6"/>
          <p:cNvCxnSpPr>
            <a:stCxn id="75" idx="3"/>
            <a:endCxn id="76" idx="1"/>
          </p:cNvCxnSpPr>
          <p:nvPr/>
        </p:nvCxnSpPr>
        <p:spPr>
          <a:xfrm>
            <a:off x="3751413" y="1406650"/>
            <a:ext cx="21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6"/>
          <p:cNvCxnSpPr>
            <a:stCxn id="76" idx="3"/>
            <a:endCxn id="77" idx="1"/>
          </p:cNvCxnSpPr>
          <p:nvPr/>
        </p:nvCxnSpPr>
        <p:spPr>
          <a:xfrm>
            <a:off x="5041688" y="1406650"/>
            <a:ext cx="3522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6"/>
          <p:cNvCxnSpPr>
            <a:stCxn id="77" idx="3"/>
            <a:endCxn id="78" idx="1"/>
          </p:cNvCxnSpPr>
          <p:nvPr/>
        </p:nvCxnSpPr>
        <p:spPr>
          <a:xfrm>
            <a:off x="6472888" y="1407475"/>
            <a:ext cx="21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6"/>
          <p:cNvCxnSpPr>
            <a:stCxn id="78" idx="3"/>
            <a:endCxn id="79" idx="1"/>
          </p:cNvCxnSpPr>
          <p:nvPr/>
        </p:nvCxnSpPr>
        <p:spPr>
          <a:xfrm flipH="1" rot="10800000">
            <a:off x="7763163" y="1405975"/>
            <a:ext cx="211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6"/>
          <p:cNvSpPr/>
          <p:nvPr/>
        </p:nvSpPr>
        <p:spPr>
          <a:xfrm>
            <a:off x="4348088" y="1914100"/>
            <a:ext cx="1739400" cy="4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Data Quality &amp; Inconsistency Reporting</a:t>
            </a:r>
            <a:endParaRPr sz="1100"/>
          </a:p>
        </p:txBody>
      </p:sp>
      <p:cxnSp>
        <p:nvCxnSpPr>
          <p:cNvPr id="87" name="Google Shape;87;p16"/>
          <p:cNvCxnSpPr>
            <a:stCxn id="86" idx="0"/>
            <a:endCxn id="76" idx="3"/>
          </p:cNvCxnSpPr>
          <p:nvPr/>
        </p:nvCxnSpPr>
        <p:spPr>
          <a:xfrm flipH="1" rot="5400000">
            <a:off x="4876088" y="1572400"/>
            <a:ext cx="507300" cy="17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2571750"/>
            <a:ext cx="8520600" cy="25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Ingestion &amp; Orchestration</a:t>
            </a:r>
            <a:endParaRPr b="1" sz="13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Ingestion from SFTP on a daily or hourly basis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Use the processing log and filename timestamp to identify new files.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Organize DWH loads, extraction, cleaning, and mart refresh.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Allows for idempotent runs, logs, alerts, and retries.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Raw Layer</a:t>
            </a:r>
            <a:endParaRPr b="1" sz="13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Keeps precise copies of incoming CSV files.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Keeps a complete version history for auditing purposes.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Saves metadata, including file month, load timestamp, and filename.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No changes were made.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450150" y="434400"/>
            <a:ext cx="8243700" cy="47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Staging Layer</a:t>
            </a:r>
            <a:endParaRPr sz="13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Standardize and clean up the source data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Make sure the data formats and types are correct.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Organize data according to orders, customers, products, and geography.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Use auto-resolvable inconsistency fixes (dates, types, blanks).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DWH Core Layer</a:t>
            </a:r>
            <a:endParaRPr b="1" sz="13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3NF modeling for consistency of master data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Product, Customer, and Geographic Dimensional Tables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Orders (with surrogate keys) in the fact table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To manage monthly file corrections, use merge/upsert logic.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Data Quality &amp; Inconsistency Reporting</a:t>
            </a:r>
            <a:endParaRPr b="1" sz="13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Rows with unresolved inconsistencies are flagged.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Creates Excel reports for SMEs and businesses.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Guarantees openness regarding incomplete or erroneous data.</a:t>
            </a:r>
            <a:endParaRPr b="1"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Data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</a:rPr>
              <a:t>Marts</a:t>
            </a:r>
            <a:endParaRPr b="1" sz="13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Analytics-optimized aggregated tables.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Supports the following dashboard KPIs: delivery times, average prices, and sales dynamics.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Arranges information according to the necessary level of detail (state, product, customer, segment).</a:t>
            </a:r>
            <a:endParaRPr b="1"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BI / Dashboard Consumption</a:t>
            </a:r>
            <a:endParaRPr b="1" sz="13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Exposes dashboard tools to marts.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Allows for the reporting of KPIs for sales, product performance, and delivery.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Flow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Land and Extract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Take in CSV files every month via SFTP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Each file should be stored in the Raw Layer along with its metadata (filename, load timestamp, file month).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Maintain the complete file version history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Profiling Data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Verify the encoding, types, and column structure.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Perform min/max ranges, null checks, and row counts.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Find anomalies (inconsistent values, invalid dates).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Data Purification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Standardize the data types (text, numbers, and dates).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Resolve formatting problems (encoding, extra spaces, and casing).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Address auto-resolvable discrepancies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Staging Layer Normalization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Create structured staging tables from the raw data.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Create distinct entities for orders, products, customers, and geography.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Use reference keys and consistent naming conventions.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Flow Cont.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5. 	</a:t>
            </a: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Qualification of Master Data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Remove duplicate master entities.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Resolve values that conflict for the same IDs.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Describe golden records for geography, customers, and products.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6. 	Dimension and Fact Loading (DWH Layer)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Fill in the dim tables (Geography, Product, and Customer).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Use surrogate keys to load Fact_Orders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Upsert adjusted months according to the file timestamp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7. 	Establishing Data Marts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Create combined tables for dashboards.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Get marts ready for delivery performance, product trends, and sales.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For analytics, make sure the grain is consistent.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8. 	DQ and Exception Reporting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Record any unresolved discrepancies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Create a Quality Report for SMEs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Keep track of impacted rows and error types.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Data Warehouse 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87700"/>
            <a:ext cx="85206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2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Layer 1: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Raw Layer (La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nding Zone)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-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aintains unaltered copies of the original CSV files.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-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Maintains a record of each monthly file version.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-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Includes the metadata listed below:  filename, load timestamp, and file month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-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ermits month-level reprocessing after corrected files are received.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82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Layer 2: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Staging Layer (Cleansed &amp; Standardized)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Standardizes data types, formats, and encodings.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Dates, numbers, and missing values are used as cleaning rules.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Creates well-organized staging tables from unstructured files.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Separates entities:  Orders, Customers, Products, and Place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Basis for master data and DWH loading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Data Warehouse 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87700"/>
            <a:ext cx="8520600" cy="36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2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Layer 3: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DWH Core Layer (Dimensions &amp; Fact)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Normalized tables that are prepared for business use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Dimension tables: Product, Customer, and Geography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Table of facts:   Orders (granularity = order line)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For dependable joins, surrogate keys are utilized.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Upsert logic supports monthly file corrections.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Organized using 3NF for master data quality (as instructed).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Surrogate keys are used to ensure stable joins and avoid source ID changes.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2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Layer 4: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Data Marts Layer (Analysis Results)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The following KPIs are supported by aggregated tables unique to BI dashboards: rankings, average price, sales dynamics, and delivery time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Improved for speedy analytical queries organized by the required level of detail (state, product, segment, month) enables the use of clean, carefully chosen data for commercial objectives.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Inconsistency Analysis &amp; Cleansing - </a:t>
            </a:r>
            <a:r>
              <a:rPr lang="en" sz="2355"/>
              <a:t>Inconsistency Categories</a:t>
            </a:r>
            <a:endParaRPr sz="2355"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4010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type inconsistencies (such as text in numeric fields).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Impossible date ranges or invalid date formats.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Missing required fields such as </a:t>
            </a:r>
            <a:r>
              <a:rPr lang="en">
                <a:solidFill>
                  <a:schemeClr val="dk1"/>
                </a:solidFill>
              </a:rPr>
              <a:t>Order ID, Product ID, Dates, and Sales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Records that are repeated in different monthly versions.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Inconsistent values in the master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Different names on the same customer ID.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Different attributes with the same product ID.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Geographical discrepancies (incorrect postal codes, city-state mismatch).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Inconsistency Analysis &amp; Cleansing - </a:t>
            </a:r>
            <a:r>
              <a:rPr lang="en" sz="2355"/>
              <a:t>Handling Approach</a:t>
            </a:r>
            <a:endParaRPr sz="2355"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40100"/>
            <a:ext cx="8520600" cy="3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A.	 Inconsistencies That Can Be Resolved Automatically</a:t>
            </a:r>
            <a:endParaRPr b="1" sz="16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Standardize types (cast numbers, convert dates).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Master data fields should be trimmed and cleaned up.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Casing should be standardized (upper/lower/title).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Use NULL in place of invalid blanks ("").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Deduplicate using the most recent file version (timestamp-based)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Maintain referential integrity between facts and dims.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B.	 Needs Business Clarification</a:t>
            </a:r>
            <a:endParaRPr b="1" sz="1600">
              <a:solidFill>
                <a:schemeClr val="dk1"/>
              </a:solidFill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Conflicting product/customer names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Geographical values that are invalid (unknown city/state combos)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Orders lacking important fields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Records with impossible or negative values (negative quantity, for example)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Inconsistency Analysis &amp; Cleansing - </a:t>
            </a:r>
            <a:r>
              <a:rPr lang="en" sz="2355"/>
              <a:t>Exception Logging &amp; Data Quality Reporting</a:t>
            </a:r>
            <a:endParaRPr sz="2355"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399875"/>
            <a:ext cx="8520600" cy="3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All unresolved rows should be kept in a separate DQ Exceptions Table.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Identify the underlying cause, such as a type mismatch, a missing value, inconsistent master data, an invalid date, etc.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After every run, create an Excel DQ report.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Add:</a:t>
            </a:r>
            <a:endParaRPr sz="1600">
              <a:solidFill>
                <a:schemeClr val="dk1"/>
              </a:solidFill>
            </a:endParaRPr>
          </a:p>
          <a:p>
            <a:pPr indent="-32258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Type of inconsistency</a:t>
            </a:r>
            <a:endParaRPr sz="1600">
              <a:solidFill>
                <a:schemeClr val="dk1"/>
              </a:solidFill>
            </a:endParaRPr>
          </a:p>
          <a:p>
            <a:pPr indent="-32258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Quantity of impacted rows</a:t>
            </a:r>
            <a:endParaRPr sz="1600">
              <a:solidFill>
                <a:schemeClr val="dk1"/>
              </a:solidFill>
            </a:endParaRPr>
          </a:p>
          <a:p>
            <a:pPr indent="-32258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Sample rows from the unprocessed data</a:t>
            </a:r>
            <a:endParaRPr sz="1600">
              <a:solidFill>
                <a:schemeClr val="dk1"/>
              </a:solidFill>
            </a:endParaRPr>
          </a:p>
          <a:p>
            <a:pPr indent="-32258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600">
                <a:solidFill>
                  <a:schemeClr val="dk1"/>
                </a:solidFill>
              </a:rPr>
              <a:t>Suggested course of action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- 	</a:t>
            </a:r>
            <a:r>
              <a:rPr lang="en" sz="1600">
                <a:solidFill>
                  <a:schemeClr val="dk1"/>
                </a:solidFill>
              </a:rPr>
              <a:t>Report to SMEs and businesses for resolution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- 	In the following cycle, the pipeline reprocesses resolved rows.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Automation &amp; Orchestration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Tool for Orchestration</a:t>
            </a:r>
            <a:endParaRPr sz="13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To coordinate all pipeline tasks, use Airflow, Prefect, or Cron-based orchestration.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Timed Implementation</a:t>
            </a:r>
            <a:endParaRPr sz="13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To find new files in SFTP, use a daily or hourly schedule.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nly executes the entire monthly pipeline in the event that new or updated files are found.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Pipeline Steps:</a:t>
            </a:r>
            <a:endParaRPr sz="13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Task 1:</a:t>
            </a:r>
            <a:r>
              <a:rPr lang="en" sz="1200">
                <a:solidFill>
                  <a:schemeClr val="dk1"/>
                </a:solidFill>
              </a:rPr>
              <a:t> Check SFTP for new files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Task 2:</a:t>
            </a:r>
            <a:r>
              <a:rPr lang="en" sz="1200">
                <a:solidFill>
                  <a:schemeClr val="dk1"/>
                </a:solidFill>
              </a:rPr>
              <a:t> Ingest file into Raw Layer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Task 3:</a:t>
            </a:r>
            <a:r>
              <a:rPr lang="en" sz="1200">
                <a:solidFill>
                  <a:schemeClr val="dk1"/>
                </a:solidFill>
              </a:rPr>
              <a:t> Run profiling &amp; cleansing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Task 4:</a:t>
            </a:r>
            <a:r>
              <a:rPr lang="en" sz="1200">
                <a:solidFill>
                  <a:schemeClr val="dk1"/>
                </a:solidFill>
              </a:rPr>
              <a:t> Load Staging Layer tables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Task 5:</a:t>
            </a:r>
            <a:r>
              <a:rPr lang="en" sz="1200">
                <a:solidFill>
                  <a:schemeClr val="dk1"/>
                </a:solidFill>
              </a:rPr>
              <a:t> Load DWH (Dims + Fact) with upsert logic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Task 6:</a:t>
            </a:r>
            <a:r>
              <a:rPr lang="en" sz="1200">
                <a:solidFill>
                  <a:schemeClr val="dk1"/>
                </a:solidFill>
              </a:rPr>
              <a:t> Refresh Marts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Task 7:</a:t>
            </a:r>
            <a:r>
              <a:rPr lang="en" sz="1200">
                <a:solidFill>
                  <a:schemeClr val="dk1"/>
                </a:solidFill>
              </a:rPr>
              <a:t> Generate and export DQ Report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Task 8:</a:t>
            </a:r>
            <a:r>
              <a:rPr lang="en" sz="1200">
                <a:solidFill>
                  <a:schemeClr val="dk1"/>
                </a:solidFill>
              </a:rPr>
              <a:t> Archive processed files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Automation &amp; Orchestration Cont.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" sz="1750">
                <a:solidFill>
                  <a:schemeClr val="dk1"/>
                </a:solidFill>
              </a:rPr>
              <a:t>Properties of Execution</a:t>
            </a:r>
            <a:endParaRPr sz="1750">
              <a:solidFill>
                <a:schemeClr val="dk1"/>
              </a:solidFill>
            </a:endParaRPr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○"/>
            </a:pPr>
            <a:r>
              <a:rPr lang="en" sz="1500">
                <a:solidFill>
                  <a:schemeClr val="dk1"/>
                </a:solidFill>
              </a:rPr>
              <a:t>Idempotent execution (safe reruns)</a:t>
            </a:r>
            <a:endParaRPr sz="1500">
              <a:solidFill>
                <a:schemeClr val="dk1"/>
              </a:solidFill>
            </a:endParaRPr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○"/>
            </a:pPr>
            <a:r>
              <a:rPr lang="en" sz="1500">
                <a:solidFill>
                  <a:schemeClr val="dk1"/>
                </a:solidFill>
              </a:rPr>
              <a:t>Error-handling and logging for every task</a:t>
            </a:r>
            <a:endParaRPr sz="1500">
              <a:solidFill>
                <a:schemeClr val="dk1"/>
              </a:solidFill>
            </a:endParaRPr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○"/>
            </a:pPr>
            <a:r>
              <a:rPr lang="en" sz="1500">
                <a:solidFill>
                  <a:schemeClr val="dk1"/>
                </a:solidFill>
              </a:rPr>
              <a:t>Failure alerts via email or Slack</a:t>
            </a:r>
            <a:endParaRPr sz="1500">
              <a:solidFill>
                <a:schemeClr val="dk1"/>
              </a:solidFill>
            </a:endParaRPr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○"/>
            </a:pPr>
            <a:r>
              <a:rPr lang="en" sz="1500">
                <a:solidFill>
                  <a:schemeClr val="dk1"/>
                </a:solidFill>
              </a:rPr>
              <a:t>Retry method for brief malfunctions (like SFTP outages)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" sz="1750">
                <a:solidFill>
                  <a:schemeClr val="dk1"/>
                </a:solidFill>
              </a:rPr>
              <a:t>Why this is important</a:t>
            </a:r>
            <a:endParaRPr sz="1750">
              <a:solidFill>
                <a:schemeClr val="dk1"/>
              </a:solidFill>
            </a:endParaRPr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○"/>
            </a:pPr>
            <a:r>
              <a:rPr lang="en" sz="1500">
                <a:solidFill>
                  <a:schemeClr val="dk1"/>
                </a:solidFill>
              </a:rPr>
              <a:t>Guarantees repeatability, consistency, and dependability</a:t>
            </a:r>
            <a:endParaRPr sz="1500">
              <a:solidFill>
                <a:schemeClr val="dk1"/>
              </a:solidFill>
            </a:endParaRPr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○"/>
            </a:pPr>
            <a:r>
              <a:rPr lang="en" sz="1500">
                <a:solidFill>
                  <a:schemeClr val="dk1"/>
                </a:solidFill>
              </a:rPr>
              <a:t>Permits a completely automated monthly update</a:t>
            </a:r>
            <a:endParaRPr sz="1500">
              <a:solidFill>
                <a:schemeClr val="dk1"/>
              </a:solidFill>
            </a:endParaRPr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○"/>
            </a:pPr>
            <a:r>
              <a:rPr lang="en" sz="1500">
                <a:solidFill>
                  <a:schemeClr val="dk1"/>
                </a:solidFill>
              </a:rPr>
              <a:t>Supports handling corrections when new file versions are received.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27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Delivered MVP Capabilities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Complete automated process from unprocessed files to carefully selected marts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Sales order data that has been cleaned, verified, and organized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Master data that is standardized and separated (Product, Customer, Geography)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Management of Data Quality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Every discrepancy found, classified, and addressed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Transparency is increased by business-facing DQ reports.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Consistent master data is ensured by golden record logic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Strengths of Technical Architecture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Design of a layered data warehouse (Raw → Staging → DWH → Marts)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Version-aware upsert support for monthly file corrections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Reprocessing of particular months is made possible by modular design.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Cont.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27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Future Readiness &amp; Scalability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Cloud-scalable MVP foundation (Azure, AWS, GCP)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Able to expand into real-time ingestion or incorporate more sources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Marts is designed to quickly connect to BI tools.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Impact on Business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Dependable dashboards for sales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Reliable KPIs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Making decisions more quickly using transparent data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